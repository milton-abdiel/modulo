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9144000" cy="16256000"/>
  <p:embeddedFontLst>
    <p:embeddedFont>
      <p:font typeface="Liter" panose="020B0604020202020204" charset="0"/>
      <p:regular r:id="rId12"/>
    </p:embeddedFont>
    <p:embeddedFont>
      <p:font typeface="Quattrocento Sans" panose="020B0502050000020003" pitchFamily="34" charset="0"/>
      <p:regular r:id="rId13"/>
    </p:embeddedFont>
  </p:embeddedFontLst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045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vm75gtpzqfjw/mnt/agents/output/estandares_software/images/cover_bg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3436">
                  <a:alpha val="90000"/>
                </a:srgbClr>
              </a:gs>
              <a:gs pos="50000">
                <a:srgbClr val="2D3436">
                  <a:alpha val="80000"/>
                </a:srgbClr>
              </a:gs>
              <a:gs pos="100000">
                <a:srgbClr val="2D3436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10500" y="2921000"/>
            <a:ext cx="635000" cy="381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ESTÁNDARES Y SU USO PRÁCTICO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810500" y="4953000"/>
            <a:ext cx="635000" cy="381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5207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EDEAE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 EL CICLO DE VIDA DEL SOFTWARE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88000" y="8128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Presentación técnica | 2026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200" kern="0" spc="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2286000"/>
            <a:ext cx="1016000" cy="381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Guía completa sobre los principales estándares de software y su aplicación práctica en cada etapa del desarrollo.</a:t>
            </a:r>
            <a:endParaRPr lang="en-US" sz="1800" dirty="0"/>
          </a:p>
        </p:txBody>
      </p:sp>
      <p:pic>
        <p:nvPicPr>
          <p:cNvPr id="6" name="Image 0" descr="https://kimi-img.moonshot.cn/pub/slides/okc/yvm75gtpzqfjw/mnt/agents/output/estandares_software/images/lifecycle.png"/>
          <p:cNvPicPr>
            <a:picLocks noChangeAspect="1"/>
          </p:cNvPicPr>
          <p:nvPr/>
        </p:nvPicPr>
        <p:blipFill>
          <a:blip r:embed="rId3"/>
          <a:srcRect l="15714" r="15714"/>
          <a:stretch/>
        </p:blipFill>
        <p:spPr>
          <a:xfrm>
            <a:off x="762000" y="4064000"/>
            <a:ext cx="4572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6350000" y="889000"/>
            <a:ext cx="914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r>
              <a:rPr lang="en-US" sz="18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Introducción a los Estándares de Software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0000" y="1803400"/>
            <a:ext cx="9144000" cy="12700"/>
          </a:xfrm>
          <a:prstGeom prst="rect">
            <a:avLst/>
          </a:prstGeom>
          <a:solidFill>
            <a:srgbClr val="D5D0CA"/>
          </a:solidFill>
          <a:ln/>
        </p:spPr>
      </p:sp>
      <p:sp>
        <p:nvSpPr>
          <p:cNvPr id="9" name="Text 6"/>
          <p:cNvSpPr/>
          <p:nvPr/>
        </p:nvSpPr>
        <p:spPr>
          <a:xfrm>
            <a:off x="6350000" y="1879600"/>
            <a:ext cx="914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r>
              <a:rPr lang="en-US" sz="18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Ciclo de Vida del Software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50000" y="2794000"/>
            <a:ext cx="9144000" cy="12700"/>
          </a:xfrm>
          <a:prstGeom prst="rect">
            <a:avLst/>
          </a:prstGeom>
          <a:solidFill>
            <a:srgbClr val="D5D0CA"/>
          </a:solidFill>
          <a:ln/>
        </p:spPr>
      </p:sp>
      <p:sp>
        <p:nvSpPr>
          <p:cNvPr id="11" name="Text 8"/>
          <p:cNvSpPr/>
          <p:nvPr/>
        </p:nvSpPr>
        <p:spPr>
          <a:xfrm>
            <a:off x="6350000" y="2870200"/>
            <a:ext cx="914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r>
              <a:rPr lang="en-US" sz="18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ISO/IEC 12207 — Procesos del Ciclo de Vida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50000" y="3784600"/>
            <a:ext cx="9144000" cy="12700"/>
          </a:xfrm>
          <a:prstGeom prst="rect">
            <a:avLst/>
          </a:prstGeom>
          <a:solidFill>
            <a:srgbClr val="D5D0CA"/>
          </a:solidFill>
          <a:ln/>
        </p:spPr>
      </p:sp>
      <p:sp>
        <p:nvSpPr>
          <p:cNvPr id="13" name="Text 10"/>
          <p:cNvSpPr/>
          <p:nvPr/>
        </p:nvSpPr>
        <p:spPr>
          <a:xfrm>
            <a:off x="6350000" y="3860800"/>
            <a:ext cx="914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r>
              <a:rPr lang="en-US" sz="18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ISO/IEC 25010 — Calidad del Producto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50000" y="4775200"/>
            <a:ext cx="9144000" cy="12700"/>
          </a:xfrm>
          <a:prstGeom prst="rect">
            <a:avLst/>
          </a:prstGeom>
          <a:solidFill>
            <a:srgbClr val="D5D0CA"/>
          </a:solidFill>
          <a:ln/>
        </p:spPr>
      </p:sp>
      <p:sp>
        <p:nvSpPr>
          <p:cNvPr id="15" name="Text 12"/>
          <p:cNvSpPr/>
          <p:nvPr/>
        </p:nvSpPr>
        <p:spPr>
          <a:xfrm>
            <a:off x="6350000" y="4851400"/>
            <a:ext cx="914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r>
              <a:rPr lang="en-US" sz="18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ISO/IEC 27001 — Seguridad de la Información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50000" y="5765800"/>
            <a:ext cx="9144000" cy="12700"/>
          </a:xfrm>
          <a:prstGeom prst="rect">
            <a:avLst/>
          </a:prstGeom>
          <a:solidFill>
            <a:srgbClr val="D5D0CA"/>
          </a:solidFill>
          <a:ln/>
        </p:spPr>
      </p:sp>
      <p:sp>
        <p:nvSpPr>
          <p:cNvPr id="17" name="Text 14"/>
          <p:cNvSpPr/>
          <p:nvPr/>
        </p:nvSpPr>
        <p:spPr>
          <a:xfrm>
            <a:off x="6350000" y="5842000"/>
            <a:ext cx="914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r>
              <a:rPr lang="en-US" sz="18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Otros Estándares Clave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50000" y="6756400"/>
            <a:ext cx="9144000" cy="12700"/>
          </a:xfrm>
          <a:prstGeom prst="rect">
            <a:avLst/>
          </a:prstGeom>
          <a:solidFill>
            <a:srgbClr val="D5D0CA"/>
          </a:solidFill>
          <a:ln/>
        </p:spPr>
      </p:sp>
      <p:sp>
        <p:nvSpPr>
          <p:cNvPr id="19" name="Text 16"/>
          <p:cNvSpPr/>
          <p:nvPr/>
        </p:nvSpPr>
        <p:spPr>
          <a:xfrm>
            <a:off x="6350000" y="6832600"/>
            <a:ext cx="914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r>
              <a:rPr lang="en-US" sz="18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Implementación Práctica y Beneficios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50000" y="7747000"/>
            <a:ext cx="9144000" cy="12700"/>
          </a:xfrm>
          <a:prstGeom prst="rect">
            <a:avLst/>
          </a:prstGeom>
          <a:solidFill>
            <a:srgbClr val="D5D0CA"/>
          </a:solidFill>
          <a:ln/>
        </p:spPr>
      </p:sp>
      <p:sp>
        <p:nvSpPr>
          <p:cNvPr id="21" name="Text 18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kern="0" spc="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SON LOS ESTÁNDARES DE SOFTWARE?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838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Los estándares de software son </a:t>
            </a:r>
            <a:r>
              <a:rPr lang="en-US" b="1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documentos técnicos</a:t>
            </a:r>
            <a:r>
              <a:rPr lang="en-US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que establecen guías, procesos y buenas prácticas para el desarrollo, mantenimiento y gestión de software.</a:t>
            </a:r>
            <a:endParaRPr lang="en-US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Desarrollados por organismos como </a:t>
            </a:r>
            <a:r>
              <a:rPr lang="en-US" b="1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ISO, IEC e IEEE</a:t>
            </a:r>
            <a:r>
              <a:rPr lang="en-US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garantizan calidad y confiabilidad en los productos de software.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4572000"/>
            <a:ext cx="838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1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PRINCIPALES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520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5207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Asegurar calidad</a:t>
            </a: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confiabilidad del software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6096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096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Garantizar seguridad</a:t>
            </a: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protección de datos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698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985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Facilitar interoperabilidad</a:t>
            </a: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sistemas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59400" y="5207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5207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Mejorar eficiencia</a:t>
            </a: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reducir costos operativos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5" name="Text 13"/>
          <p:cNvSpPr/>
          <p:nvPr/>
        </p:nvSpPr>
        <p:spPr>
          <a:xfrm>
            <a:off x="5905500" y="6096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Reducir riesgos</a:t>
            </a: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mejorar procesos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83200" y="698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7" name="Text 15"/>
          <p:cNvSpPr/>
          <p:nvPr/>
        </p:nvSpPr>
        <p:spPr>
          <a:xfrm>
            <a:off x="5905500" y="6985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Cumplimiento normativo</a:t>
            </a: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internacional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0" y="1651000"/>
            <a:ext cx="5334000" cy="6350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19" name="Text 17"/>
          <p:cNvSpPr/>
          <p:nvPr/>
        </p:nvSpPr>
        <p:spPr>
          <a:xfrm>
            <a:off x="10541000" y="20320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1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ORGANISMOS CLAVE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541000" y="2603500"/>
            <a:ext cx="635000" cy="254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41000" y="292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28956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Organization for Standardization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41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24" name="Text 22"/>
          <p:cNvSpPr/>
          <p:nvPr/>
        </p:nvSpPr>
        <p:spPr>
          <a:xfrm>
            <a:off x="11049000" y="41656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Electrotechnical Commission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96550" y="5207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4450" y="66675"/>
                </a:moveTo>
                <a:cubicBezTo>
                  <a:pt x="44450" y="42158"/>
                  <a:pt x="64383" y="22225"/>
                  <a:pt x="88900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400050" y="233363"/>
                </a:lnTo>
                <a:lnTo>
                  <a:pt x="355600" y="233363"/>
                </a:lnTo>
                <a:lnTo>
                  <a:pt x="355600" y="66675"/>
                </a:lnTo>
                <a:lnTo>
                  <a:pt x="88900" y="66675"/>
                </a:lnTo>
                <a:lnTo>
                  <a:pt x="88900" y="233363"/>
                </a:lnTo>
                <a:lnTo>
                  <a:pt x="44450" y="233363"/>
                </a:lnTo>
                <a:lnTo>
                  <a:pt x="44450" y="66675"/>
                </a:lnTo>
                <a:close/>
                <a:moveTo>
                  <a:pt x="0" y="280035"/>
                </a:moveTo>
                <a:cubicBezTo>
                  <a:pt x="0" y="272673"/>
                  <a:pt x="5973" y="266700"/>
                  <a:pt x="13335" y="266700"/>
                </a:cubicBezTo>
                <a:lnTo>
                  <a:pt x="431165" y="266700"/>
                </a:lnTo>
                <a:cubicBezTo>
                  <a:pt x="438527" y="266700"/>
                  <a:pt x="444500" y="272673"/>
                  <a:pt x="444500" y="280035"/>
                </a:cubicBezTo>
                <a:cubicBezTo>
                  <a:pt x="444500" y="309483"/>
                  <a:pt x="420608" y="333375"/>
                  <a:pt x="391160" y="333375"/>
                </a:cubicBezTo>
                <a:lnTo>
                  <a:pt x="53340" y="333375"/>
                </a:lnTo>
                <a:cubicBezTo>
                  <a:pt x="23892" y="333375"/>
                  <a:pt x="0" y="309483"/>
                  <a:pt x="0" y="280035"/>
                </a:cubicBezTo>
                <a:close/>
                <a:moveTo>
                  <a:pt x="195163" y="145157"/>
                </a:moveTo>
                <a:lnTo>
                  <a:pt x="173633" y="166688"/>
                </a:lnTo>
                <a:lnTo>
                  <a:pt x="195163" y="188218"/>
                </a:lnTo>
                <a:cubicBezTo>
                  <a:pt x="201692" y="194747"/>
                  <a:pt x="201692" y="205303"/>
                  <a:pt x="195163" y="211763"/>
                </a:cubicBezTo>
                <a:cubicBezTo>
                  <a:pt x="188635" y="218222"/>
                  <a:pt x="178078" y="218291"/>
                  <a:pt x="171619" y="211763"/>
                </a:cubicBezTo>
                <a:lnTo>
                  <a:pt x="138281" y="178425"/>
                </a:lnTo>
                <a:cubicBezTo>
                  <a:pt x="131753" y="171896"/>
                  <a:pt x="131753" y="161340"/>
                  <a:pt x="138281" y="154880"/>
                </a:cubicBezTo>
                <a:lnTo>
                  <a:pt x="171619" y="121543"/>
                </a:lnTo>
                <a:cubicBezTo>
                  <a:pt x="178147" y="115014"/>
                  <a:pt x="188704" y="115014"/>
                  <a:pt x="195163" y="121543"/>
                </a:cubicBezTo>
                <a:cubicBezTo>
                  <a:pt x="201622" y="128072"/>
                  <a:pt x="201692" y="138628"/>
                  <a:pt x="195163" y="145088"/>
                </a:cubicBezTo>
                <a:close/>
                <a:moveTo>
                  <a:pt x="272951" y="121543"/>
                </a:moveTo>
                <a:lnTo>
                  <a:pt x="306288" y="154880"/>
                </a:lnTo>
                <a:cubicBezTo>
                  <a:pt x="312817" y="161409"/>
                  <a:pt x="312817" y="171966"/>
                  <a:pt x="306288" y="178425"/>
                </a:cubicBezTo>
                <a:lnTo>
                  <a:pt x="272951" y="211763"/>
                </a:lnTo>
                <a:cubicBezTo>
                  <a:pt x="266422" y="218291"/>
                  <a:pt x="255865" y="218291"/>
                  <a:pt x="249406" y="211763"/>
                </a:cubicBezTo>
                <a:cubicBezTo>
                  <a:pt x="242947" y="205234"/>
                  <a:pt x="242878" y="194677"/>
                  <a:pt x="249406" y="188218"/>
                </a:cubicBezTo>
                <a:lnTo>
                  <a:pt x="270937" y="166688"/>
                </a:lnTo>
                <a:lnTo>
                  <a:pt x="249406" y="145157"/>
                </a:lnTo>
                <a:cubicBezTo>
                  <a:pt x="242878" y="138628"/>
                  <a:pt x="242878" y="128072"/>
                  <a:pt x="249406" y="121612"/>
                </a:cubicBezTo>
                <a:cubicBezTo>
                  <a:pt x="255935" y="115153"/>
                  <a:pt x="266492" y="115084"/>
                  <a:pt x="272951" y="121612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51816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Institute of Electrical and Electronics Engineers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41000" y="647700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Estos organismos colaboran para desarrollar y mantener estándares que abarcan desde los procesos de desarrollo hasta la calidad y seguridad del software.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kern="0" spc="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CICLO DE VIDA DEL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Las </a:t>
            </a:r>
            <a:r>
              <a:rPr lang="en-US" sz="1800" b="1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cinco fases fundamentales</a:t>
            </a: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 desarrollo de software, cada una con estándares específicos para garantizar resultados óptimos.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2743200" cy="584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603500"/>
            <a:ext cx="2235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0005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PLANIFICACIÓN Y ANÁLISIS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889500"/>
            <a:ext cx="2235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Definición de requisitos, alcance del proyecto, recursos necesarios y análisis de viabilidad.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71120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i="1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ISO/IEC 12207, ISO/IEC 29110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56000" y="5080000"/>
            <a:ext cx="203200" cy="0"/>
          </a:xfrm>
          <a:prstGeom prst="straightConnector1">
            <a:avLst/>
          </a:prstGeom>
          <a:noFill/>
          <a:ln w="25400">
            <a:solidFill>
              <a:srgbClr val="C06045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759200" y="2349500"/>
            <a:ext cx="2743200" cy="584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13" name="Text 11"/>
          <p:cNvSpPr/>
          <p:nvPr/>
        </p:nvSpPr>
        <p:spPr>
          <a:xfrm>
            <a:off x="4013200" y="2603500"/>
            <a:ext cx="2235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132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759" y="0"/>
                </a:moveTo>
                <a:cubicBezTo>
                  <a:pt x="377904" y="0"/>
                  <a:pt x="394335" y="6787"/>
                  <a:pt x="406390" y="18931"/>
                </a:cubicBezTo>
                <a:lnTo>
                  <a:pt x="438269" y="50810"/>
                </a:lnTo>
                <a:cubicBezTo>
                  <a:pt x="450413" y="62865"/>
                  <a:pt x="457200" y="79296"/>
                  <a:pt x="457200" y="96441"/>
                </a:cubicBezTo>
                <a:cubicBezTo>
                  <a:pt x="457200" y="113586"/>
                  <a:pt x="450413" y="130016"/>
                  <a:pt x="438269" y="142071"/>
                </a:cubicBezTo>
                <a:lnTo>
                  <a:pt x="398175" y="182166"/>
                </a:lnTo>
                <a:lnTo>
                  <a:pt x="275034" y="59025"/>
                </a:lnTo>
                <a:lnTo>
                  <a:pt x="315129" y="18931"/>
                </a:lnTo>
                <a:cubicBezTo>
                  <a:pt x="327184" y="6787"/>
                  <a:pt x="343614" y="0"/>
                  <a:pt x="360759" y="0"/>
                </a:cubicBezTo>
                <a:close/>
                <a:moveTo>
                  <a:pt x="52596" y="281374"/>
                </a:moveTo>
                <a:lnTo>
                  <a:pt x="244763" y="89297"/>
                </a:lnTo>
                <a:lnTo>
                  <a:pt x="367903" y="212437"/>
                </a:lnTo>
                <a:lnTo>
                  <a:pt x="175826" y="404604"/>
                </a:lnTo>
                <a:cubicBezTo>
                  <a:pt x="166271" y="414159"/>
                  <a:pt x="154305" y="421124"/>
                  <a:pt x="141268" y="424785"/>
                </a:cubicBezTo>
                <a:lnTo>
                  <a:pt x="27146" y="456396"/>
                </a:lnTo>
                <a:cubicBezTo>
                  <a:pt x="19735" y="458450"/>
                  <a:pt x="11698" y="456396"/>
                  <a:pt x="6251" y="450860"/>
                </a:cubicBezTo>
                <a:cubicBezTo>
                  <a:pt x="804" y="445324"/>
                  <a:pt x="-1339" y="437376"/>
                  <a:pt x="714" y="429964"/>
                </a:cubicBezTo>
                <a:lnTo>
                  <a:pt x="32504" y="315932"/>
                </a:lnTo>
                <a:cubicBezTo>
                  <a:pt x="36165" y="302895"/>
                  <a:pt x="43041" y="291019"/>
                  <a:pt x="52685" y="281374"/>
                </a:cubicBezTo>
                <a:close/>
                <a:moveTo>
                  <a:pt x="201275" y="72152"/>
                </a:moveTo>
                <a:lnTo>
                  <a:pt x="72152" y="201275"/>
                </a:lnTo>
                <a:lnTo>
                  <a:pt x="10448" y="139571"/>
                </a:lnTo>
                <a:cubicBezTo>
                  <a:pt x="-3483" y="125641"/>
                  <a:pt x="-3483" y="103049"/>
                  <a:pt x="10448" y="89029"/>
                </a:cubicBezTo>
                <a:lnTo>
                  <a:pt x="89029" y="10448"/>
                </a:lnTo>
                <a:cubicBezTo>
                  <a:pt x="102959" y="-3483"/>
                  <a:pt x="125551" y="-3483"/>
                  <a:pt x="139571" y="10448"/>
                </a:cubicBezTo>
                <a:lnTo>
                  <a:pt x="144840" y="15716"/>
                </a:lnTo>
                <a:lnTo>
                  <a:pt x="94565" y="65990"/>
                </a:lnTo>
                <a:cubicBezTo>
                  <a:pt x="87600" y="72956"/>
                  <a:pt x="87600" y="84296"/>
                  <a:pt x="94565" y="91261"/>
                </a:cubicBezTo>
                <a:cubicBezTo>
                  <a:pt x="101531" y="98227"/>
                  <a:pt x="112871" y="98227"/>
                  <a:pt x="119836" y="91261"/>
                </a:cubicBezTo>
                <a:lnTo>
                  <a:pt x="170111" y="40987"/>
                </a:lnTo>
                <a:lnTo>
                  <a:pt x="201275" y="72152"/>
                </a:lnTo>
                <a:close/>
                <a:moveTo>
                  <a:pt x="385048" y="255925"/>
                </a:moveTo>
                <a:lnTo>
                  <a:pt x="416213" y="287089"/>
                </a:lnTo>
                <a:lnTo>
                  <a:pt x="365939" y="337364"/>
                </a:lnTo>
                <a:cubicBezTo>
                  <a:pt x="358973" y="344329"/>
                  <a:pt x="358973" y="355669"/>
                  <a:pt x="365939" y="362635"/>
                </a:cubicBezTo>
                <a:cubicBezTo>
                  <a:pt x="372904" y="369600"/>
                  <a:pt x="384244" y="369600"/>
                  <a:pt x="391210" y="362635"/>
                </a:cubicBezTo>
                <a:lnTo>
                  <a:pt x="441484" y="312360"/>
                </a:lnTo>
                <a:lnTo>
                  <a:pt x="446752" y="317629"/>
                </a:lnTo>
                <a:cubicBezTo>
                  <a:pt x="460683" y="331559"/>
                  <a:pt x="460683" y="354151"/>
                  <a:pt x="446752" y="368171"/>
                </a:cubicBezTo>
                <a:lnTo>
                  <a:pt x="368171" y="446752"/>
                </a:lnTo>
                <a:cubicBezTo>
                  <a:pt x="354241" y="460683"/>
                  <a:pt x="331649" y="460683"/>
                  <a:pt x="317629" y="446752"/>
                </a:cubicBezTo>
                <a:lnTo>
                  <a:pt x="255925" y="385048"/>
                </a:lnTo>
                <a:lnTo>
                  <a:pt x="385048" y="255925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5" name="Text 13"/>
          <p:cNvSpPr/>
          <p:nvPr/>
        </p:nvSpPr>
        <p:spPr>
          <a:xfrm>
            <a:off x="4013200" y="40005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DISEÑO DEL SISTEMA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13200" y="4889500"/>
            <a:ext cx="2235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del sistema, modelado de datos, diseño de interfaces y patrones.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3200" y="71120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i="1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ISO/IEC 25010, IEEE 830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3200" y="5080000"/>
            <a:ext cx="203200" cy="0"/>
          </a:xfrm>
          <a:prstGeom prst="straightConnector1">
            <a:avLst/>
          </a:prstGeom>
          <a:noFill/>
          <a:ln w="25400">
            <a:solidFill>
              <a:srgbClr val="C06045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756400" y="2349500"/>
            <a:ext cx="2743200" cy="584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20" name="Text 18"/>
          <p:cNvSpPr/>
          <p:nvPr/>
        </p:nvSpPr>
        <p:spPr>
          <a:xfrm>
            <a:off x="7010400" y="2603500"/>
            <a:ext cx="2235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81825" y="336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2" name="Text 20"/>
          <p:cNvSpPr/>
          <p:nvPr/>
        </p:nvSpPr>
        <p:spPr>
          <a:xfrm>
            <a:off x="7010400" y="40005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DESARROLLO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0400" y="4889500"/>
            <a:ext cx="2235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Codificación e implementación siguiendo estándares y buenas prácticas de ingeniería.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0400" y="71120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i="1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ISO/IEC 12207, ISO/IEC 27001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50400" y="5080000"/>
            <a:ext cx="203200" cy="0"/>
          </a:xfrm>
          <a:prstGeom prst="straightConnector1">
            <a:avLst/>
          </a:prstGeom>
          <a:noFill/>
          <a:ln w="25400">
            <a:solidFill>
              <a:srgbClr val="C06045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9753600" y="2349500"/>
            <a:ext cx="2743200" cy="584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27" name="Text 25"/>
          <p:cNvSpPr/>
          <p:nvPr/>
        </p:nvSpPr>
        <p:spPr>
          <a:xfrm>
            <a:off x="10007600" y="2603500"/>
            <a:ext cx="2235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076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5931" y="8394"/>
                </a:moveTo>
                <a:cubicBezTo>
                  <a:pt x="294769" y="-2768"/>
                  <a:pt x="276642" y="-2768"/>
                  <a:pt x="265480" y="8394"/>
                </a:cubicBezTo>
                <a:cubicBezTo>
                  <a:pt x="254318" y="19556"/>
                  <a:pt x="254318" y="37683"/>
                  <a:pt x="265480" y="48845"/>
                </a:cubicBezTo>
                <a:lnTo>
                  <a:pt x="273874" y="57150"/>
                </a:lnTo>
                <a:lnTo>
                  <a:pt x="25092" y="305931"/>
                </a:lnTo>
                <a:cubicBezTo>
                  <a:pt x="9019" y="322005"/>
                  <a:pt x="0" y="343793"/>
                  <a:pt x="0" y="366564"/>
                </a:cubicBezTo>
                <a:lnTo>
                  <a:pt x="0" y="371475"/>
                </a:lnTo>
                <a:cubicBezTo>
                  <a:pt x="0" y="418802"/>
                  <a:pt x="38398" y="457200"/>
                  <a:pt x="85725" y="457200"/>
                </a:cubicBezTo>
                <a:lnTo>
                  <a:pt x="90636" y="457200"/>
                </a:lnTo>
                <a:cubicBezTo>
                  <a:pt x="113407" y="457200"/>
                  <a:pt x="135195" y="448181"/>
                  <a:pt x="151269" y="432108"/>
                </a:cubicBezTo>
                <a:lnTo>
                  <a:pt x="400050" y="183326"/>
                </a:lnTo>
                <a:lnTo>
                  <a:pt x="408444" y="191720"/>
                </a:lnTo>
                <a:cubicBezTo>
                  <a:pt x="419606" y="202882"/>
                  <a:pt x="437733" y="202882"/>
                  <a:pt x="448895" y="191720"/>
                </a:cubicBezTo>
                <a:cubicBezTo>
                  <a:pt x="460058" y="180558"/>
                  <a:pt x="460058" y="162431"/>
                  <a:pt x="448895" y="151269"/>
                </a:cubicBezTo>
                <a:lnTo>
                  <a:pt x="306020" y="8394"/>
                </a:lnTo>
                <a:close/>
                <a:moveTo>
                  <a:pt x="183326" y="228600"/>
                </a:moveTo>
                <a:lnTo>
                  <a:pt x="314325" y="97601"/>
                </a:lnTo>
                <a:lnTo>
                  <a:pt x="359599" y="142875"/>
                </a:lnTo>
                <a:lnTo>
                  <a:pt x="273874" y="228600"/>
                </a:lnTo>
                <a:lnTo>
                  <a:pt x="183237" y="22860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9" name="Text 27"/>
          <p:cNvSpPr/>
          <p:nvPr/>
        </p:nvSpPr>
        <p:spPr>
          <a:xfrm>
            <a:off x="10007600" y="40005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PRUEBAS Y VALIDACIÓN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07600" y="48895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Verificación, validación y aseguramiento de calidad del producto software.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07600" y="71120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i="1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ISO/IEC 25010, ISO/IEC 27001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547600" y="5080000"/>
            <a:ext cx="203200" cy="0"/>
          </a:xfrm>
          <a:prstGeom prst="straightConnector1">
            <a:avLst/>
          </a:prstGeom>
          <a:noFill/>
          <a:ln w="25400">
            <a:solidFill>
              <a:srgbClr val="C06045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2750800" y="2349500"/>
            <a:ext cx="2743200" cy="584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34" name="Text 32"/>
          <p:cNvSpPr/>
          <p:nvPr/>
        </p:nvSpPr>
        <p:spPr>
          <a:xfrm>
            <a:off x="13004800" y="2603500"/>
            <a:ext cx="2235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0048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6" name="Text 34"/>
          <p:cNvSpPr/>
          <p:nvPr/>
        </p:nvSpPr>
        <p:spPr>
          <a:xfrm>
            <a:off x="13004800" y="40005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DESPLIEGUE Y MANTENIMIENTO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004800" y="4889500"/>
            <a:ext cx="2235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Entrega al cliente, operación continua, monitoreo y evolución del software.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004800" y="7112000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i="1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ISO/IEC 12207, ISO/IEC 20000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kern="0" spc="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ISO/IEC 12207 — PROCESOS DEL CICLO DE VIDA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Estándar internacional que define un </a:t>
            </a:r>
            <a:r>
              <a:rPr lang="en-US" sz="1800" b="1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marco estructurado de procesos</a:t>
            </a: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 el ciclo de vida del software, desde la concepción hasta la retirada del sistema.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838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APLICACIÓN POR FASES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175000"/>
          <a:ext cx="8382000" cy="5079998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66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APLICACIÓN DEL ESTÁNDAR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Planificación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 actividades y tareas del proceso; ayuda a estimar recursos y riesgos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Diseño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Establece actividades para el análisis de requisitos y diseño del sistema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Desarrollo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Guía la construcción del software siguiendo procesos estandarizados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Pruebas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 actividades de verificación y validación del software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34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Despliegue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1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Establece procesos para entrega e implementación del software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906000" y="1587500"/>
            <a:ext cx="5588000" cy="66675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8" name="Shape 5"/>
          <p:cNvSpPr/>
          <p:nvPr/>
        </p:nvSpPr>
        <p:spPr>
          <a:xfrm>
            <a:off x="11938000" y="2159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85750" y="95250"/>
                </a:moveTo>
                <a:cubicBezTo>
                  <a:pt x="285750" y="68907"/>
                  <a:pt x="307032" y="47625"/>
                  <a:pt x="333375" y="47625"/>
                </a:cubicBezTo>
                <a:lnTo>
                  <a:pt x="428625" y="47625"/>
                </a:lnTo>
                <a:cubicBezTo>
                  <a:pt x="454968" y="47625"/>
                  <a:pt x="476250" y="68907"/>
                  <a:pt x="476250" y="95250"/>
                </a:cubicBezTo>
                <a:lnTo>
                  <a:pt x="476250" y="190500"/>
                </a:lnTo>
                <a:cubicBezTo>
                  <a:pt x="476250" y="216843"/>
                  <a:pt x="454968" y="238125"/>
                  <a:pt x="428625" y="238125"/>
                </a:cubicBezTo>
                <a:lnTo>
                  <a:pt x="416719" y="238125"/>
                </a:lnTo>
                <a:lnTo>
                  <a:pt x="416719" y="333375"/>
                </a:lnTo>
                <a:lnTo>
                  <a:pt x="595313" y="333375"/>
                </a:lnTo>
                <a:cubicBezTo>
                  <a:pt x="654546" y="333375"/>
                  <a:pt x="702469" y="381298"/>
                  <a:pt x="702469" y="440531"/>
                </a:cubicBezTo>
                <a:lnTo>
                  <a:pt x="702469" y="523875"/>
                </a:lnTo>
                <a:lnTo>
                  <a:pt x="714375" y="523875"/>
                </a:lnTo>
                <a:cubicBezTo>
                  <a:pt x="740718" y="523875"/>
                  <a:pt x="762000" y="545157"/>
                  <a:pt x="762000" y="571500"/>
                </a:cubicBezTo>
                <a:lnTo>
                  <a:pt x="762000" y="666750"/>
                </a:lnTo>
                <a:cubicBezTo>
                  <a:pt x="762000" y="693093"/>
                  <a:pt x="740718" y="714375"/>
                  <a:pt x="714375" y="714375"/>
                </a:cubicBezTo>
                <a:lnTo>
                  <a:pt x="619125" y="714375"/>
                </a:lnTo>
                <a:cubicBezTo>
                  <a:pt x="592782" y="714375"/>
                  <a:pt x="571500" y="693093"/>
                  <a:pt x="571500" y="666750"/>
                </a:cubicBezTo>
                <a:lnTo>
                  <a:pt x="571500" y="571500"/>
                </a:lnTo>
                <a:cubicBezTo>
                  <a:pt x="571500" y="545157"/>
                  <a:pt x="592782" y="523875"/>
                  <a:pt x="619125" y="523875"/>
                </a:cubicBezTo>
                <a:lnTo>
                  <a:pt x="631031" y="523875"/>
                </a:lnTo>
                <a:lnTo>
                  <a:pt x="631031" y="440531"/>
                </a:lnTo>
                <a:cubicBezTo>
                  <a:pt x="631031" y="420737"/>
                  <a:pt x="615107" y="404813"/>
                  <a:pt x="595313" y="404813"/>
                </a:cubicBezTo>
                <a:lnTo>
                  <a:pt x="416719" y="404813"/>
                </a:lnTo>
                <a:lnTo>
                  <a:pt x="416719" y="523875"/>
                </a:lnTo>
                <a:lnTo>
                  <a:pt x="428625" y="523875"/>
                </a:lnTo>
                <a:cubicBezTo>
                  <a:pt x="454968" y="523875"/>
                  <a:pt x="476250" y="545157"/>
                  <a:pt x="476250" y="571500"/>
                </a:cubicBezTo>
                <a:lnTo>
                  <a:pt x="476250" y="666750"/>
                </a:lnTo>
                <a:cubicBezTo>
                  <a:pt x="476250" y="693093"/>
                  <a:pt x="454968" y="714375"/>
                  <a:pt x="428625" y="714375"/>
                </a:cubicBezTo>
                <a:lnTo>
                  <a:pt x="333375" y="714375"/>
                </a:lnTo>
                <a:cubicBezTo>
                  <a:pt x="307032" y="714375"/>
                  <a:pt x="285750" y="693093"/>
                  <a:pt x="285750" y="666750"/>
                </a:cubicBezTo>
                <a:lnTo>
                  <a:pt x="285750" y="571500"/>
                </a:lnTo>
                <a:cubicBezTo>
                  <a:pt x="285750" y="545157"/>
                  <a:pt x="307032" y="523875"/>
                  <a:pt x="333375" y="523875"/>
                </a:cubicBezTo>
                <a:lnTo>
                  <a:pt x="345281" y="523875"/>
                </a:lnTo>
                <a:lnTo>
                  <a:pt x="345281" y="404813"/>
                </a:lnTo>
                <a:lnTo>
                  <a:pt x="166688" y="404813"/>
                </a:lnTo>
                <a:cubicBezTo>
                  <a:pt x="146893" y="404813"/>
                  <a:pt x="130969" y="420737"/>
                  <a:pt x="130969" y="440531"/>
                </a:cubicBezTo>
                <a:lnTo>
                  <a:pt x="130969" y="523875"/>
                </a:lnTo>
                <a:lnTo>
                  <a:pt x="142875" y="523875"/>
                </a:lnTo>
                <a:cubicBezTo>
                  <a:pt x="169218" y="523875"/>
                  <a:pt x="190500" y="545157"/>
                  <a:pt x="190500" y="571500"/>
                </a:cubicBezTo>
                <a:lnTo>
                  <a:pt x="190500" y="666750"/>
                </a:lnTo>
                <a:cubicBezTo>
                  <a:pt x="190500" y="693093"/>
                  <a:pt x="169218" y="714375"/>
                  <a:pt x="142875" y="714375"/>
                </a:cubicBezTo>
                <a:lnTo>
                  <a:pt x="47625" y="714375"/>
                </a:lnTo>
                <a:cubicBezTo>
                  <a:pt x="21282" y="714375"/>
                  <a:pt x="0" y="693093"/>
                  <a:pt x="0" y="666750"/>
                </a:cubicBezTo>
                <a:lnTo>
                  <a:pt x="0" y="571500"/>
                </a:lnTo>
                <a:cubicBezTo>
                  <a:pt x="0" y="545157"/>
                  <a:pt x="21282" y="523875"/>
                  <a:pt x="47625" y="523875"/>
                </a:cubicBezTo>
                <a:lnTo>
                  <a:pt x="59531" y="523875"/>
                </a:lnTo>
                <a:lnTo>
                  <a:pt x="59531" y="440531"/>
                </a:lnTo>
                <a:cubicBezTo>
                  <a:pt x="59531" y="381298"/>
                  <a:pt x="107454" y="333375"/>
                  <a:pt x="166688" y="333375"/>
                </a:cubicBezTo>
                <a:lnTo>
                  <a:pt x="345281" y="333375"/>
                </a:lnTo>
                <a:lnTo>
                  <a:pt x="345281" y="238125"/>
                </a:lnTo>
                <a:lnTo>
                  <a:pt x="333375" y="238125"/>
                </a:lnTo>
                <a:cubicBezTo>
                  <a:pt x="307032" y="238125"/>
                  <a:pt x="285750" y="216843"/>
                  <a:pt x="285750" y="190500"/>
                </a:cubicBezTo>
                <a:lnTo>
                  <a:pt x="285750" y="95250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9" name="Text 6"/>
          <p:cNvSpPr/>
          <p:nvPr/>
        </p:nvSpPr>
        <p:spPr>
          <a:xfrm>
            <a:off x="10287000" y="3302000"/>
            <a:ext cx="482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PROCESOS CLAVE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938000" y="3873500"/>
            <a:ext cx="762000" cy="254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11" name="Text 8"/>
          <p:cNvSpPr/>
          <p:nvPr/>
        </p:nvSpPr>
        <p:spPr>
          <a:xfrm>
            <a:off x="10287000" y="4127500"/>
            <a:ext cx="482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Adquisición del software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Suministro del software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Desarrollo del software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Operación del software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Mantenimiento del software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Gestión de documentación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Gestión de configuración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Aseguramiento de calidad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kern="0" spc="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ISO/IEC 25010 — CALIDAD DEL PRODUCTO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 un </a:t>
            </a:r>
            <a:r>
              <a:rPr lang="en-US" sz="1800" b="1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modelo de calidad</a:t>
            </a: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 8 características fundamentales que evalúan la calidad del producto de software.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048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FUNCIONALIDAD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4925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del software para satisfacer necesidades establecidas y funcionar correctamente.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0" y="2286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1" name="Text 9"/>
          <p:cNvSpPr/>
          <p:nvPr/>
        </p:nvSpPr>
        <p:spPr>
          <a:xfrm>
            <a:off x="4762500" y="3048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FIABILIDAD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0" y="34925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para mantener un nivel de rendimiento bajo condiciones específicas en el tiempo.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2286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4550" y="2540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3048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9000" y="34925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Facilidad de aprendizaje, operación e interacción satisfactoria para los usuarios finales.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01500" y="22860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22555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5500" y="3048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55500" y="34925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de respuesta y utilización óptima de recursos del sistema durante operación.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5245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286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COMPATIBILIDAD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7310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de coexistencia e interoperabilidad con otros sistemas y componentes.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08500" y="55245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27" name="Text 25"/>
          <p:cNvSpPr/>
          <p:nvPr/>
        </p:nvSpPr>
        <p:spPr>
          <a:xfrm>
            <a:off x="4762500" y="6286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2500" y="67310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Protección de información y datos frente a accesos no autorizados y amenazas.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0" y="55245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30" name="Shape 28"/>
          <p:cNvSpPr/>
          <p:nvPr/>
        </p:nvSpPr>
        <p:spPr>
          <a:xfrm>
            <a:off x="8486775" y="577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31" name="Text 29"/>
          <p:cNvSpPr/>
          <p:nvPr/>
        </p:nvSpPr>
        <p:spPr>
          <a:xfrm>
            <a:off x="8509000" y="6286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MANTENIBILIDAD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9000" y="67310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Facilidad de modificación, corrección y mejora continua del software.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001500" y="5524500"/>
            <a:ext cx="3492500" cy="2921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2277725" y="577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35" name="Text 33"/>
          <p:cNvSpPr/>
          <p:nvPr/>
        </p:nvSpPr>
        <p:spPr>
          <a:xfrm>
            <a:off x="12255500" y="6286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PORTABILIDAD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255500" y="67310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de ser transferido a diferentes entornos de hardware y software.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kern="0" spc="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ISO/IEC 27001 — SEGURIDAD DE LA INFORMACIÓN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838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Estándar internacional para la </a:t>
            </a:r>
            <a:r>
              <a:rPr lang="en-US" sz="1800" b="1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gestión de seguridad de la información (SGSI)</a:t>
            </a: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Establece requisitos para proteger la confidencialidad, integridad y disponibilidad de la información.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3175000"/>
            <a:ext cx="838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RELEVANCIA EN EL CICLO DE VIDA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7" name="Text 5"/>
          <p:cNvSpPr/>
          <p:nvPr/>
        </p:nvSpPr>
        <p:spPr>
          <a:xfrm>
            <a:off x="1206500" y="3746500"/>
            <a:ext cx="768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Planificación:</a:t>
            </a: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Identificación de riesgos de seguridad y planificación de controles desde el inicio.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63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0506" y="0"/>
                </a:moveTo>
                <a:cubicBezTo>
                  <a:pt x="251936" y="0"/>
                  <a:pt x="262890" y="4524"/>
                  <a:pt x="270927" y="12621"/>
                </a:cubicBezTo>
                <a:lnTo>
                  <a:pt x="292179" y="33873"/>
                </a:lnTo>
                <a:cubicBezTo>
                  <a:pt x="300276" y="41910"/>
                  <a:pt x="304800" y="52864"/>
                  <a:pt x="304800" y="64294"/>
                </a:cubicBezTo>
                <a:cubicBezTo>
                  <a:pt x="304800" y="75724"/>
                  <a:pt x="300276" y="86678"/>
                  <a:pt x="292179" y="94714"/>
                </a:cubicBezTo>
                <a:lnTo>
                  <a:pt x="265450" y="121444"/>
                </a:lnTo>
                <a:lnTo>
                  <a:pt x="183356" y="39350"/>
                </a:lnTo>
                <a:lnTo>
                  <a:pt x="210086" y="12621"/>
                </a:lnTo>
                <a:cubicBezTo>
                  <a:pt x="218123" y="4524"/>
                  <a:pt x="229076" y="0"/>
                  <a:pt x="240506" y="0"/>
                </a:cubicBezTo>
                <a:close/>
                <a:moveTo>
                  <a:pt x="35064" y="187583"/>
                </a:moveTo>
                <a:lnTo>
                  <a:pt x="163175" y="59531"/>
                </a:lnTo>
                <a:lnTo>
                  <a:pt x="245269" y="141625"/>
                </a:lnTo>
                <a:lnTo>
                  <a:pt x="117217" y="269736"/>
                </a:lnTo>
                <a:cubicBezTo>
                  <a:pt x="110847" y="276106"/>
                  <a:pt x="102870" y="280749"/>
                  <a:pt x="94178" y="283190"/>
                </a:cubicBezTo>
                <a:lnTo>
                  <a:pt x="18098" y="304264"/>
                </a:lnTo>
                <a:cubicBezTo>
                  <a:pt x="13156" y="305633"/>
                  <a:pt x="7799" y="304264"/>
                  <a:pt x="4167" y="300573"/>
                </a:cubicBezTo>
                <a:cubicBezTo>
                  <a:pt x="536" y="296882"/>
                  <a:pt x="-893" y="291584"/>
                  <a:pt x="476" y="286643"/>
                </a:cubicBezTo>
                <a:lnTo>
                  <a:pt x="21669" y="210622"/>
                </a:lnTo>
                <a:cubicBezTo>
                  <a:pt x="24110" y="201930"/>
                  <a:pt x="28694" y="194012"/>
                  <a:pt x="35123" y="187583"/>
                </a:cubicBezTo>
                <a:close/>
                <a:moveTo>
                  <a:pt x="134183" y="48101"/>
                </a:moveTo>
                <a:lnTo>
                  <a:pt x="48101" y="134183"/>
                </a:lnTo>
                <a:lnTo>
                  <a:pt x="6965" y="93047"/>
                </a:lnTo>
                <a:cubicBezTo>
                  <a:pt x="-2322" y="83760"/>
                  <a:pt x="-2322" y="68699"/>
                  <a:pt x="6965" y="59353"/>
                </a:cubicBezTo>
                <a:lnTo>
                  <a:pt x="59353" y="6965"/>
                </a:lnTo>
                <a:cubicBezTo>
                  <a:pt x="68640" y="-2322"/>
                  <a:pt x="83701" y="-2322"/>
                  <a:pt x="93047" y="6965"/>
                </a:cubicBezTo>
                <a:lnTo>
                  <a:pt x="96560" y="10478"/>
                </a:lnTo>
                <a:lnTo>
                  <a:pt x="63044" y="43994"/>
                </a:lnTo>
                <a:cubicBezTo>
                  <a:pt x="58400" y="48637"/>
                  <a:pt x="58400" y="56198"/>
                  <a:pt x="63044" y="60841"/>
                </a:cubicBezTo>
                <a:cubicBezTo>
                  <a:pt x="67687" y="65484"/>
                  <a:pt x="75248" y="65484"/>
                  <a:pt x="79891" y="60841"/>
                </a:cubicBezTo>
                <a:lnTo>
                  <a:pt x="113407" y="27325"/>
                </a:lnTo>
                <a:lnTo>
                  <a:pt x="134183" y="48101"/>
                </a:lnTo>
                <a:close/>
                <a:moveTo>
                  <a:pt x="256699" y="170617"/>
                </a:moveTo>
                <a:lnTo>
                  <a:pt x="277475" y="191393"/>
                </a:lnTo>
                <a:lnTo>
                  <a:pt x="243959" y="224909"/>
                </a:lnTo>
                <a:cubicBezTo>
                  <a:pt x="239316" y="229553"/>
                  <a:pt x="239316" y="237113"/>
                  <a:pt x="243959" y="241756"/>
                </a:cubicBezTo>
                <a:cubicBezTo>
                  <a:pt x="248602" y="246400"/>
                  <a:pt x="256163" y="246400"/>
                  <a:pt x="260806" y="241756"/>
                </a:cubicBezTo>
                <a:lnTo>
                  <a:pt x="294322" y="208240"/>
                </a:lnTo>
                <a:lnTo>
                  <a:pt x="297835" y="211753"/>
                </a:lnTo>
                <a:cubicBezTo>
                  <a:pt x="307122" y="221040"/>
                  <a:pt x="307122" y="236101"/>
                  <a:pt x="297835" y="245447"/>
                </a:cubicBezTo>
                <a:lnTo>
                  <a:pt x="245447" y="297835"/>
                </a:lnTo>
                <a:cubicBezTo>
                  <a:pt x="236160" y="307122"/>
                  <a:pt x="221099" y="307122"/>
                  <a:pt x="211753" y="297835"/>
                </a:cubicBezTo>
                <a:lnTo>
                  <a:pt x="170617" y="256699"/>
                </a:lnTo>
                <a:lnTo>
                  <a:pt x="256699" y="170617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9" name="Text 7"/>
          <p:cNvSpPr/>
          <p:nvPr/>
        </p:nvSpPr>
        <p:spPr>
          <a:xfrm>
            <a:off x="1206500" y="4572000"/>
            <a:ext cx="768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Diseño:</a:t>
            </a: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Definición de requisitos de seguridad y diseño de arquitectura segura.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2950" y="5461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1" name="Text 9"/>
          <p:cNvSpPr/>
          <p:nvPr/>
        </p:nvSpPr>
        <p:spPr>
          <a:xfrm>
            <a:off x="1206500" y="5397500"/>
            <a:ext cx="768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Desarrollo:</a:t>
            </a: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Implementación de controles de seguridad en el código y revisión de vulnerabilidades.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28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3954" y="5596"/>
                </a:moveTo>
                <a:cubicBezTo>
                  <a:pt x="196513" y="-1845"/>
                  <a:pt x="184428" y="-1845"/>
                  <a:pt x="176986" y="5596"/>
                </a:cubicBezTo>
                <a:cubicBezTo>
                  <a:pt x="169545" y="13037"/>
                  <a:pt x="169545" y="25122"/>
                  <a:pt x="176986" y="32564"/>
                </a:cubicBezTo>
                <a:lnTo>
                  <a:pt x="182582" y="38100"/>
                </a:lnTo>
                <a:lnTo>
                  <a:pt x="16728" y="203954"/>
                </a:lnTo>
                <a:cubicBezTo>
                  <a:pt x="6013" y="214670"/>
                  <a:pt x="0" y="229195"/>
                  <a:pt x="0" y="244376"/>
                </a:cubicBezTo>
                <a:lnTo>
                  <a:pt x="0" y="247650"/>
                </a:lnTo>
                <a:cubicBezTo>
                  <a:pt x="0" y="279202"/>
                  <a:pt x="25598" y="304800"/>
                  <a:pt x="57150" y="304800"/>
                </a:cubicBezTo>
                <a:lnTo>
                  <a:pt x="60424" y="304800"/>
                </a:lnTo>
                <a:cubicBezTo>
                  <a:pt x="75605" y="304800"/>
                  <a:pt x="90130" y="298787"/>
                  <a:pt x="100846" y="288072"/>
                </a:cubicBezTo>
                <a:lnTo>
                  <a:pt x="266700" y="122218"/>
                </a:lnTo>
                <a:lnTo>
                  <a:pt x="272296" y="127814"/>
                </a:lnTo>
                <a:cubicBezTo>
                  <a:pt x="279737" y="135255"/>
                  <a:pt x="291822" y="135255"/>
                  <a:pt x="299264" y="127814"/>
                </a:cubicBezTo>
                <a:cubicBezTo>
                  <a:pt x="306705" y="120372"/>
                  <a:pt x="306705" y="108287"/>
                  <a:pt x="299264" y="100846"/>
                </a:cubicBezTo>
                <a:lnTo>
                  <a:pt x="204014" y="5596"/>
                </a:lnTo>
                <a:close/>
                <a:moveTo>
                  <a:pt x="122218" y="152400"/>
                </a:moveTo>
                <a:lnTo>
                  <a:pt x="209550" y="65068"/>
                </a:lnTo>
                <a:lnTo>
                  <a:pt x="239732" y="95250"/>
                </a:lnTo>
                <a:lnTo>
                  <a:pt x="182582" y="152400"/>
                </a:lnTo>
                <a:lnTo>
                  <a:pt x="122158" y="152400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3" name="Text 11"/>
          <p:cNvSpPr/>
          <p:nvPr/>
        </p:nvSpPr>
        <p:spPr>
          <a:xfrm>
            <a:off x="1206500" y="6223000"/>
            <a:ext cx="768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Pruebas:</a:t>
            </a: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Aseguramiento de pruebas de seguridad como parte integral del proceso.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711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5" name="Text 13"/>
          <p:cNvSpPr/>
          <p:nvPr/>
        </p:nvSpPr>
        <p:spPr>
          <a:xfrm>
            <a:off x="1206500" y="7048500"/>
            <a:ext cx="768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Despliegue:</a:t>
            </a: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Controles para una liberación segura y monitoreo continuo post-implementación.</a:t>
            </a:r>
            <a:endParaRPr lang="en-US" sz="1600" dirty="0"/>
          </a:p>
        </p:txBody>
      </p:sp>
      <p:pic>
        <p:nvPicPr>
          <p:cNvPr id="16" name="Image 0" descr="https://kimi-img.moonshot.cn/pub/slides/okc/yvm75gtpzqfjw/mnt/agents/output/estandares_software/images/security.png"/>
          <p:cNvPicPr>
            <a:picLocks noChangeAspect="1"/>
          </p:cNvPicPr>
          <p:nvPr/>
        </p:nvPicPr>
        <p:blipFill>
          <a:blip r:embed="rId3"/>
          <a:srcRect l="10714" r="10714"/>
          <a:stretch/>
        </p:blipFill>
        <p:spPr>
          <a:xfrm>
            <a:off x="9906000" y="1587500"/>
            <a:ext cx="5588000" cy="4064000"/>
          </a:xfrm>
          <a:prstGeom prst="roundRect">
            <a:avLst>
              <a:gd name="adj" fmla="val 8000"/>
            </a:avLst>
          </a:prstGeom>
        </p:spPr>
      </p:pic>
      <p:sp>
        <p:nvSpPr>
          <p:cNvPr id="17" name="Shape 14"/>
          <p:cNvSpPr/>
          <p:nvPr/>
        </p:nvSpPr>
        <p:spPr>
          <a:xfrm>
            <a:off x="9906000" y="5905500"/>
            <a:ext cx="5588000" cy="23495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0000" y="609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1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PRINCIPIOS FUNDAMENTALES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160000" y="6540500"/>
            <a:ext cx="508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Confidencialidad de la información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Integridad de datos y procesos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Disponibilidad del sistema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Gestión continua de riesgos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kern="0" spc="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OTROS ESTÁNDARES CLAVE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1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Además de los principales estándares ISO, existen otras normativas importantes que complementan el marco de calidad y seguridad del software.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4699000" cy="5969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667000"/>
            <a:ext cx="1143000" cy="355600"/>
          </a:xfrm>
          <a:prstGeom prst="roundRect">
            <a:avLst>
              <a:gd name="adj" fmla="val 14000"/>
            </a:avLst>
          </a:prstGeom>
          <a:solidFill>
            <a:srgbClr val="C0604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67000"/>
            <a:ext cx="114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830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30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Especificación de Requisitos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873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el contenido recomendado para especificar requisitos de software de manera completa y precisa.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Estandariza la captura y documentación de requisitos con todas las partes interesadas del proyecto.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" y="6858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6858000"/>
            <a:ext cx="355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Documentación estructurada de requisitos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2349500"/>
            <a:ext cx="4699000" cy="5969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6670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C06045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2667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ISO/IEC 29110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30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Perfiles para PYMES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3873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Proporciona un conjunto de procesos ligeros adaptados a las necesidades de pequeñas organizaciones.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Permite planificar proyectos con procesos simples, efectivos y proporcionales al tamaño del equipo.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3300" y="6858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139700" y="279400"/>
                </a:moveTo>
                <a:lnTo>
                  <a:pt x="165100" y="279400"/>
                </a:lnTo>
                <a:cubicBezTo>
                  <a:pt x="179149" y="279400"/>
                  <a:pt x="190500" y="290751"/>
                  <a:pt x="190500" y="304800"/>
                </a:cubicBezTo>
                <a:lnTo>
                  <a:pt x="190500" y="368300"/>
                </a:lnTo>
                <a:lnTo>
                  <a:pt x="114300" y="368300"/>
                </a:lnTo>
                <a:lnTo>
                  <a:pt x="114300" y="304800"/>
                </a:lnTo>
                <a:cubicBezTo>
                  <a:pt x="114300" y="290751"/>
                  <a:pt x="125651" y="279400"/>
                  <a:pt x="139700" y="279400"/>
                </a:cubicBezTo>
                <a:close/>
                <a:moveTo>
                  <a:pt x="76200" y="88900"/>
                </a:moveTo>
                <a:cubicBezTo>
                  <a:pt x="76200" y="81915"/>
                  <a:pt x="81915" y="76200"/>
                  <a:pt x="88900" y="76200"/>
                </a:cubicBezTo>
                <a:lnTo>
                  <a:pt x="114300" y="76200"/>
                </a:lnTo>
                <a:cubicBezTo>
                  <a:pt x="121285" y="76200"/>
                  <a:pt x="127000" y="81915"/>
                  <a:pt x="127000" y="88900"/>
                </a:cubicBezTo>
                <a:lnTo>
                  <a:pt x="127000" y="114300"/>
                </a:lnTo>
                <a:cubicBezTo>
                  <a:pt x="127000" y="121285"/>
                  <a:pt x="121285" y="127000"/>
                  <a:pt x="114300" y="127000"/>
                </a:cubicBezTo>
                <a:lnTo>
                  <a:pt x="88900" y="127000"/>
                </a:lnTo>
                <a:cubicBezTo>
                  <a:pt x="81915" y="127000"/>
                  <a:pt x="76200" y="121285"/>
                  <a:pt x="76200" y="114300"/>
                </a:cubicBezTo>
                <a:lnTo>
                  <a:pt x="76200" y="88900"/>
                </a:lnTo>
                <a:close/>
                <a:moveTo>
                  <a:pt x="190500" y="76200"/>
                </a:moveTo>
                <a:lnTo>
                  <a:pt x="215900" y="76200"/>
                </a:lnTo>
                <a:cubicBezTo>
                  <a:pt x="222885" y="76200"/>
                  <a:pt x="228600" y="81915"/>
                  <a:pt x="228600" y="88900"/>
                </a:cubicBezTo>
                <a:lnTo>
                  <a:pt x="228600" y="114300"/>
                </a:lnTo>
                <a:cubicBezTo>
                  <a:pt x="228600" y="121285"/>
                  <a:pt x="222885" y="127000"/>
                  <a:pt x="215900" y="127000"/>
                </a:cubicBezTo>
                <a:lnTo>
                  <a:pt x="190500" y="127000"/>
                </a:lnTo>
                <a:cubicBezTo>
                  <a:pt x="183515" y="127000"/>
                  <a:pt x="177800" y="121285"/>
                  <a:pt x="177800" y="114300"/>
                </a:cubicBezTo>
                <a:lnTo>
                  <a:pt x="177800" y="88900"/>
                </a:lnTo>
                <a:cubicBezTo>
                  <a:pt x="177800" y="81915"/>
                  <a:pt x="183515" y="76200"/>
                  <a:pt x="190500" y="76200"/>
                </a:cubicBezTo>
                <a:close/>
                <a:moveTo>
                  <a:pt x="76200" y="190500"/>
                </a:moveTo>
                <a:cubicBezTo>
                  <a:pt x="76200" y="183515"/>
                  <a:pt x="81915" y="177800"/>
                  <a:pt x="88900" y="177800"/>
                </a:cubicBezTo>
                <a:lnTo>
                  <a:pt x="114300" y="177800"/>
                </a:lnTo>
                <a:cubicBezTo>
                  <a:pt x="121285" y="177800"/>
                  <a:pt x="127000" y="183515"/>
                  <a:pt x="127000" y="190500"/>
                </a:cubicBezTo>
                <a:lnTo>
                  <a:pt x="127000" y="215900"/>
                </a:lnTo>
                <a:cubicBezTo>
                  <a:pt x="127000" y="222885"/>
                  <a:pt x="121285" y="228600"/>
                  <a:pt x="114300" y="228600"/>
                </a:cubicBezTo>
                <a:lnTo>
                  <a:pt x="88900" y="228600"/>
                </a:lnTo>
                <a:cubicBezTo>
                  <a:pt x="81915" y="228600"/>
                  <a:pt x="76200" y="222885"/>
                  <a:pt x="76200" y="215900"/>
                </a:cubicBezTo>
                <a:lnTo>
                  <a:pt x="76200" y="190500"/>
                </a:lnTo>
                <a:close/>
                <a:moveTo>
                  <a:pt x="190500" y="177800"/>
                </a:moveTo>
                <a:lnTo>
                  <a:pt x="215900" y="177800"/>
                </a:lnTo>
                <a:cubicBezTo>
                  <a:pt x="222885" y="177800"/>
                  <a:pt x="228600" y="183515"/>
                  <a:pt x="228600" y="190500"/>
                </a:cubicBezTo>
                <a:lnTo>
                  <a:pt x="228600" y="215900"/>
                </a:lnTo>
                <a:cubicBezTo>
                  <a:pt x="228600" y="222885"/>
                  <a:pt x="222885" y="228600"/>
                  <a:pt x="215900" y="228600"/>
                </a:cubicBezTo>
                <a:lnTo>
                  <a:pt x="190500" y="228600"/>
                </a:lnTo>
                <a:cubicBezTo>
                  <a:pt x="183515" y="228600"/>
                  <a:pt x="177800" y="222885"/>
                  <a:pt x="177800" y="215900"/>
                </a:cubicBezTo>
                <a:lnTo>
                  <a:pt x="177800" y="190500"/>
                </a:lnTo>
                <a:cubicBezTo>
                  <a:pt x="177800" y="183515"/>
                  <a:pt x="183515" y="177800"/>
                  <a:pt x="190500" y="177800"/>
                </a:cubicBezTo>
                <a:close/>
              </a:path>
            </a:pathLst>
          </a:custGeom>
          <a:solidFill>
            <a:srgbClr val="C06045"/>
          </a:solidFill>
          <a:ln/>
        </p:spPr>
      </p:sp>
      <p:sp>
        <p:nvSpPr>
          <p:cNvPr id="18" name="Text 16"/>
          <p:cNvSpPr/>
          <p:nvPr/>
        </p:nvSpPr>
        <p:spPr>
          <a:xfrm>
            <a:off x="6604000" y="6858000"/>
            <a:ext cx="355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Adaptado a organizaciones pequeñas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2349500"/>
            <a:ext cx="4699000" cy="5969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49000" y="2667000"/>
            <a:ext cx="1651000" cy="355600"/>
          </a:xfrm>
          <a:prstGeom prst="roundRect">
            <a:avLst>
              <a:gd name="adj" fmla="val 14000"/>
            </a:avLst>
          </a:prstGeom>
          <a:solidFill>
            <a:srgbClr val="2D3436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0" y="26670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RELACIONADOS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330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Estándares de Interés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3873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Otras normativas complementarias que fortalecen el marco de gestión de calidad y procesos de desarrollo de software.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5842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ISO/IEC 15504</a:t>
            </a: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(SPICE): Evaluación de procesos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9000" y="6477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CMMI:</a:t>
            </a: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Modelo de madurez de capacidades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7112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 9001:</a:t>
            </a:r>
            <a:r>
              <a:rPr lang="en-US" sz="1400" dirty="0">
                <a:solidFill>
                  <a:srgbClr val="1A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Gestión de calidad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vm75gtpzqfjw/mnt/agents/output/estandares_software/images/cover_bg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3436">
                  <a:alpha val="94000"/>
                </a:srgbClr>
              </a:gs>
              <a:gs pos="60000">
                <a:srgbClr val="2D3436">
                  <a:alpha val="90000"/>
                </a:srgbClr>
              </a:gs>
              <a:gs pos="100000">
                <a:srgbClr val="2D3436">
                  <a:alpha val="8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10500" y="2540000"/>
            <a:ext cx="635000" cy="381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79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kern="0" spc="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810500" y="3746500"/>
            <a:ext cx="635000" cy="38100"/>
          </a:xfrm>
          <a:prstGeom prst="rect">
            <a:avLst/>
          </a:prstGeom>
          <a:solidFill>
            <a:srgbClr val="C06045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3937000"/>
            <a:ext cx="1143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estándar aporta </a:t>
            </a:r>
            <a:r>
              <a:rPr lang="en-US" sz="1800" b="1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beneficios específicos</a:t>
            </a:r>
            <a:r>
              <a:rPr lang="en-US" sz="18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las distintas etapas del ciclo de vida del software. Su implementación mejora la calidad, reduce riesgos y garantiza un desarrollo organizado.</a:t>
            </a:r>
            <a:endParaRPr lang="en-US" sz="1600" dirty="0"/>
          </a:p>
          <a:p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adopción de estándares no es solo un requisito normativo, sino una </a:t>
            </a:r>
            <a:r>
              <a:rPr lang="en-US" sz="1800" b="1" dirty="0">
                <a:solidFill>
                  <a:srgbClr val="C060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inversión en la excelencia</a:t>
            </a:r>
            <a:r>
              <a:rPr lang="en-US" sz="1800" dirty="0">
                <a:solidFill>
                  <a:srgbClr val="EDEA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 producto software.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6350000"/>
            <a:ext cx="2540000" cy="12700"/>
          </a:xfrm>
          <a:prstGeom prst="rect">
            <a:avLst/>
          </a:prstGeom>
          <a:solidFill>
            <a:srgbClr val="8D817C"/>
          </a:solidFill>
          <a:ln/>
        </p:spPr>
      </p:sp>
      <p:sp>
        <p:nvSpPr>
          <p:cNvPr id="9" name="Text 6"/>
          <p:cNvSpPr/>
          <p:nvPr/>
        </p:nvSpPr>
        <p:spPr>
          <a:xfrm>
            <a:off x="5588000" y="6604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00" dirty="0">
                <a:solidFill>
                  <a:srgbClr val="C060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GRACIAS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3000" y="8001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817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Estándares y su Uso Práctico en el Ciclo de Vida del Software | 2026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993</Words>
  <Application>Microsoft Office PowerPoint</Application>
  <PresentationFormat>Personalizado</PresentationFormat>
  <Paragraphs>146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Quattrocento Sans</vt:lpstr>
      <vt:lpstr>QuattrocentoSans</vt:lpstr>
      <vt:lpstr>Arial</vt:lpstr>
      <vt:lpstr>Liter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Estándares y su Uso Práctico en el Ciclo de Vida del Software</dc:title>
  <dc:subject>Estándares y su Uso Práctico en el Ciclo de Vida del Software</dc:subject>
  <dc:creator>Kimi</dc:creator>
  <cp:lastModifiedBy>Milton Abdiel Perez</cp:lastModifiedBy>
  <cp:revision>2</cp:revision>
  <dcterms:created xsi:type="dcterms:W3CDTF">2026-05-24T01:47:59Z</dcterms:created>
  <dcterms:modified xsi:type="dcterms:W3CDTF">2026-05-27T02:24:27Z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{"Label":"Estándares y su Uso Práctico en el Ciclo de Vida del Software","ContentProducer":"001191110108MACG2KBH8F10000","ProduceID":"19e57a3d-b432-8fdc-8000-0000e802343e","ReservedCode1":"","ContentPropagator":"001191110108MACG2KBH8F20000","PropagateID":"19e57a3d-b432-8fdc-8000-0000e802343e","ReservedCode2":""}</vt:lpwstr>
  </property>
</Properties>
</file>